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A44"/>
                </a:solidFill>
              </a:rPr>
              <a:t>Figure Gallery</a:t>
            </a:r>
          </a:p>
          <a:p>
            <a:r>
              <a:rPr sz="2000">
                <a:solidFill>
                  <a:srgbClr val="4A4A4A"/>
                </a:solidFill>
              </a:rPr>
              <a:t>Every visualization produced in this project,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29000"/>
            <a:ext cx="4114800" cy="508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12 figures (some grouped into composites) - each followed by a detailed Hebrew explanation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על המצגת הזו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זה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אוסף מלא של כל האיורים שנוצרו לאורך הפרויקט, לפי סדר היווצרותם - החל מהכנת נתוני המפקד, דרך הנדסת פיצ'רי הקורונה והמיזוג, ועד תוצאות המידול.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איך זה בנוי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לכל איור (או קבוצת איורים קשורים) - שקופית אנגלית עם כותרת והסבר קצר, ומיד אחריה שקופית עברית עם פירוט מלא: מה רואים, איך זה נוצר, ולמה זה חשוב.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איורים שבהם מעורבים מודלים סטטיסטיים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בכל שקופית רלוונטית מצוין שם המודל המדויק (למשל Ridge, Logistic Regression) וההנמקה לבחירה בו דווקא, לא רק התוצאה.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</a:rPr>
              <a:t>Figure 1: Building the Census Join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4A4A4A"/>
                </a:solidFill>
              </a:rPr>
              <a:t>Schematic of the 5-step pipeline that builds City_agas_code, the key used to merge census and COVID data</a:t>
            </a:r>
          </a:p>
        </p:txBody>
      </p:sp>
      <p:pic>
        <p:nvPicPr>
          <p:cNvPr id="7" name="Picture 6" descr="diagram_join_ke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59" y="2834640"/>
            <a:ext cx="1036320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scripts/preprocessing_mifkak2_naama.ipynb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איור 1: בניית מפתח הצירוף למפקד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דיאגרמת תהליך בת 5 שלבים: מהקובץ הגולמי, דרך ניקוי מפתחות ובניית City_agas_code, הרחבת כיסוי (סינתוז שורות-עיר חסרות ומילוי רשומות מאוחדות), ועד לקובץ המעובד הסופי.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איך זה נוצר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דיאגרמה סכמטית שציירתי ב-matplotlib (תיבות + חצים) המשקפת בדיוק את תאי הקוד בפועל במחברת - לא איור מדומיין אלא תרשים של תהליך אמיתי שרץ.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למה זה חשוב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בלי מפתח משותף ותקין, אי אפשר בכלל לחבר בין נתוני הקורונה למפקד - זה הבסיס שכל שאר הפרויקט נשען עליו.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</a:rPr>
              <a:t>Figure 2: Dimension Reduction — 70 Columns to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4A4A4A"/>
                </a:solidFill>
              </a:rPr>
              <a:t>Schematic: 7 correlated domains each reduced to a representative + PCA index; 13 standalone columns kept as-is</a:t>
            </a:r>
          </a:p>
        </p:txBody>
      </p:sp>
      <p:pic>
        <p:nvPicPr>
          <p:cNvPr id="7" name="Picture 6" descr="diagram_feature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541" y="2331720"/>
            <a:ext cx="6816436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scripts/preprocessing_mifkak2_naama.ipynb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איור 2: תרשים צמצום הפיצ'רים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70 העמודות הגולמיות מתחלקות ל-7 תחומים תמטיים (משמאל), שכל אחד מהם מצטמצם לשתי עמודות (נציג + אינדקס PCA), בתוספת 13 עמודות עצמאיות - סה"כ 27 עמודות בקובץ הסופי מימין.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איך זה נוצר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דיאגרמת תיבות-וחצים שממחישה את הזרימה הלוגית של הקוד בפועל - לא רק תיאור מילולי אלא ויזואליזציה של המבנה ההיררכי.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למה זה חשוב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צמצום נחוץ כדי להימנע מריבוי-קוליניאריות במודלים בהמשך - זו ההחלטה שהובילה גם לצורך ברגולריזציה (Ridge) בשלב המידול.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</a:rPr>
              <a:t>Figure 3: Evidence — Do the Representative Columns Really Represent Their Domain?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4A4A4A"/>
                </a:solidFill>
              </a:rPr>
              <a:t>All 7 domains: correlation of the chosen representative column with every other raw column in its group (|r|=0.7 threshold lines)</a:t>
            </a:r>
          </a:p>
        </p:txBody>
      </p:sp>
      <p:pic>
        <p:nvPicPr>
          <p:cNvPr id="7" name="Picture 6" descr="composite_mifkad_domain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550" y="2194560"/>
            <a:ext cx="8326418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data/processed/mifkad/figures/*_representative_corr.png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איור 3: ראיה אמפירית לבחירת הנציגים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7 גרפי עמודות אופקיים - אחד לכל תחום. כל עמודה מראה עד כמה עמודה גולמית אחרת בתחום מתואמת עם הנציג שנבחר. קווי סף מקווקווים ב-0.7± מסמנים מתאם חזק.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איך זה נוצר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איחדתי את 7 הגרפים המקוריים (שנוצרו כבר בשלב הצמצום) לתמונה אחת עם matplotlib subplots, כדי שיהיה נוח להציג את כל התחומים יחד בשקופית אחת.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למה זה חשוב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זו לא רק החלטה שרירותית - הגרפים מוכיחים בפועל שהנציג שנבחר בכל תחום באמת מתואם חזק עם רוב יתר העמודות בקבוצה שלו (למשל j_isr_pcnt מתחום המוצא מתואם עד -0.99 עם j_abr_pcnt).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שימו לב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בתחום ה-employment ל-Empl_pcnt יש מתאם שלילי-בינוני עם WrkY_pcnt (הנציג) - לא כל תחום מושלם, וזו נקודה כנה לציין במצגת.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</a:rPr>
              <a:t>Figure 4: Wave-2 COVID Feature Engineering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4A4A4A"/>
                </a:solidFill>
              </a:rPr>
              <a:t>6-step pipeline: raw daily data -&gt; key + city synthesis -&gt; adaptive infection_rate -&gt; window filter -&gt; 4 per-area targets</a:t>
            </a:r>
          </a:p>
        </p:txBody>
      </p:sp>
      <p:pic>
        <p:nvPicPr>
          <p:cNvPr id="7" name="Picture 6" descr="diagram_wave2_coron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" y="2834640"/>
            <a:ext cx="1089660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scripts/build_wave2_ir_severity_table.py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איור 4: תרשים הנדסת הפיצ'רים לגל השני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6 תיבות ברצף: מהקובץ הגולמי היומי, דרך בניית המפתח וסינתוז שורות-עיר, חישוב infection_rate אדפטיבי, סינון לחלון הזמן שנבחר (1.6-31.10.2020), ועד ל-4 עמודות היעד הסופיות לכל אזור.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איך זה נוצר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דיאגרמה חדשה שציירתי במיוחד לתיאור הסקריפט build_wave2_ir_severity_table.py - לא היה איור כזה קודם בפרויקט, כי כל השלב הזה נבנה מחדש בשיחה הזו.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למה זה חשוב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זה השלב שהופך נתוני קורונה גולמיים (יומיים, ברמת אזור) ל-4 מדדים חד-פעמיים לכל אזור - התשתית לכל שלב המידול שאחריו.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</a:rPr>
              <a:t>Figure 5: Merging COVID and Census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4A4A4A"/>
                </a:solidFill>
              </a:rPr>
              <a:t>Left join with an explicit has_census flag, then filter to areas where both sides are present</a:t>
            </a:r>
          </a:p>
        </p:txBody>
      </p:sp>
      <p:pic>
        <p:nvPicPr>
          <p:cNvPr id="7" name="Picture 6" descr="diagram_merg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975" y="2743200"/>
            <a:ext cx="7807569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scripts/merge_corona_mifkad2.ipynb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איור 5: תרשים שלב המיזוג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שתי טבלות משמאל (קורונה גל 2 ומפקד מצומצם) נכנסות ל-left join עם דגל has_census, ואז מסוננות ל-has_census==1 בלבד - התוצאה: 1,595 → 1,008 אזורים (63.2%).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איך זה נוצר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דיאגרמה חדשה שממחישה תיקון שביצענו בקוד: גרסה קודמת של המחברת "טענה" left join אבל בפועל ביצעה inner join - התרשים הזה מתאר את הגרסה המתוקנת שבה שני השלבים (join + filter) מפורשים ונפרדים.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למה זה חשוב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ההפרדה בין "מיזוג" ל"סינון" חשובה מתודולוגית - כך רואים בבירור כמה שורות אבדו ולמה, במקום שזה יקרה בשקט בתוך פעולת join אחת.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</a:rPr>
              <a:t>Figure 6: The Modeling Pipeline — 110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4A4A4A"/>
                </a:solidFill>
              </a:rPr>
              <a:t>6 named model families across 2 stages: univariate screen (95 fits) + combined regression (15 fits)</a:t>
            </a:r>
          </a:p>
        </p:txBody>
      </p:sp>
      <p:pic>
        <p:nvPicPr>
          <p:cNvPr id="7" name="Picture 6" descr="modeling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72" y="2286000"/>
            <a:ext cx="8212974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scripts/build_models.ipynb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איור 6: תרשים תהליך המידול — שמות המודלים ולמה נבחרו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תרשים-על של 110 המודלים: מטבלת wave2_model_table.csv, דרך שני מסלולים מקבילים (סריקה חד-משתנית ורגרסיה משולבת), כל אחד עם שלב תיקון/רגולריזציה משלו, ועד לתוצאות.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6 סוגי המודלים בפועל ולמה כל אחד נבחר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scipy.stats.linregress - רגרסיה ליניארית פשוטה לכל פיצ'ר בנפרד; נבחר כי נותן slope+r+p-value בפעולה אחת, מהיר ופשוט לפרשנות.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sklearn.LinearRegression (בתוך GroupKFold) - אותה רגרסיה, אך לחישוב R² על נתוני-מבחן (לא רק בתוך המדגם) - כדי לקבל הערכה ריאלית.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statsmodels.Logit - רגרסיה לוגיסטית חד-משתנית ל-severity_present; נבחר כי נותן p-value סטטיסטי מדויק (Wald test) לכל פיצ'ר בנפרד.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sklearn.LogisticRegression(class_weight="balanced") - לחישוב AUC על נתוני-מבחן; class_weight מאזן את חוסר האיזון (רק 10.7% חיוביים).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sklearn.Ridge - רגרסיה מרובת-משתנים עם רגולריזציית L2, ל-4 היעדים הרציפים בשלב המשולב; נבחר במקום OLS רגיל **כי גילינו מתאם עד r=0.99 בין נציג לאינדקס באותו תחום** - OLS רגיל היה נותן מקדמים לא יציבים.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sklearn.LogisticRegression(penalty="l2") - אותו רעיון בדיוק, בגרסה לוגיסטית, ל-severity_present.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ולידציה משותפת לכל המודלים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5-fold GroupKFold, מקובץ לפי עיר (town_code) - נבחר כדי למנוע דליפת מידע גיאוגרפית בין תתי-אזורים של אותה עיר.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</a:rPr>
              <a:t>Figure 7: Univariate Screen — All 5 Modeling Tracks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4A4A4A"/>
                </a:solidFill>
              </a:rPr>
              <a:t>19 census features x 5 targets, colored by FDR significance — built with scipy.stats.linregress / statsmodels.Logit + GroupKFold CV</a:t>
            </a:r>
          </a:p>
        </p:txBody>
      </p:sp>
      <p:pic>
        <p:nvPicPr>
          <p:cNvPr id="7" name="Picture 6" descr="composite_univariate_scre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2103120"/>
            <a:ext cx="720852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data/processed/models/figures/univariate_*.png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איור 7: קומפוזיט הסריקה החד-משתנית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5 גרפי עמודות - אחד לכל מסלול (mean_IR, peak_IR, slope_to_peak_IR, severity_hosp_per_case, severity_present). כל שורה = פיצ'ר מפקד, אורך = R²/pseudo-R² שלו לבד. כחול = מובהק אחרי FDR, אפור = לא.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איך זה נוצר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איחוד 5 הגרפים הנפרדים לתמונה אחת עם matplotlib, כדי לאפשר השוואה ויזואלית מהירה בין כל היעדים - רואים מיד את ההבדל העצום בין mean_IR (הרבה כחול) ל-slope_to_peak_IR (הכל אפור).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המודלים מאחורי הגרפים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scipy.stats.linregress ו-statsmodels.Logit לחישוב האפקט וה-p-value; sklearn.LinearRegression/LogisticRegression בתוך 5-fold GroupKFold לחישוב R²/AUC אמין (out-of-sample).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למה זה חשוב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זה הבסיס לכל המסקנות בהמשך - לפני שבודקים שילובי-פיצ'רים, חייבים לדעת אילו פיצ'רים בכלל קשורים ליעד, אחד-אחד.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</a:rPr>
              <a:t>Figure 8: Feature × Target Correlation Heatmap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4A4A4A"/>
                </a:solidFill>
              </a:rPr>
              <a:t>Pearson r between all 19 census features and all 5 covid tracks — an overview, not a significance test</a:t>
            </a:r>
          </a:p>
        </p:txBody>
      </p:sp>
      <p:pic>
        <p:nvPicPr>
          <p:cNvPr id="7" name="Picture 6" descr="feature_target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530" y="1965960"/>
            <a:ext cx="3680459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data/processed/models/figures/feature_target_correlation_heatmap.png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איור 8: מפת מתאמים כללית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מפת חום: 19 שורות (פיצ'רים) × 5 עמודות (מסלולים), צבע = מקדם מתאם פירסון (אדום=חיובי, כחול=שלילי, לבן≈0).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איך זה נוצר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np.corrcoef בין כל עמודת פיצ'ר גולמית לכל עמודת יעד, מוצג עם imshow ומפת צבעים דו-כיוונית (RdBu_r) הממורכזת סביב 0.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למה זה חשוב, ומה ההבדל מהגרפים הקודמים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זה **לא** בדיקת מובהקות (אין כאן p-value/FDR) - זה רק מבט-על מהיר על כיוון ועוצמה גסה. שימושי כשקופית פתיחה לפני שנכנסים לפירוט הסטטיסטי המדויק בגרפי ה-univariate.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</a:rPr>
              <a:t>Figure 9: Combined Regression (Ridge) — Continuous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4A4A4A"/>
                </a:solidFill>
              </a:rPr>
              <a:t>3 feature-sets (representatives / indices / both) x 4 continuous targets, 5-fold grouped CV R²</a:t>
            </a:r>
          </a:p>
        </p:txBody>
      </p:sp>
      <p:pic>
        <p:nvPicPr>
          <p:cNvPr id="7" name="Picture 6" descr="combined_regression_continuou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734" y="2103120"/>
            <a:ext cx="643405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data/processed/models/figures/combined_regression_continuous_summary.png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איור 9: רגרסיית Ridge משולבת — יעדים רציפים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גרף עמודות מקובץ - לכל אחד מ-4 היעדים הרציפים, 3 עמודות (קבוצות פיצ'רים שונות), גובה = R² מ-5-fold CV.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המודל: Ridge Regression - למה דווקא הוא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sklearn.linear_model.Ridge(alpha=1.0). נבחר **במקום רגרסיה ליניארית רגילה (OLS)** כי גילינו מתאם עצום (עד r=0.99) בין עמודת הנציג לעמודת האינדקס באותו תחום מפקד - OLS רגיל היה נותן מקדמים לא יציבים ולא-ניתנים-לפרשנות. Ridge (רגולריזציית L2) מייצב את הפתרון גם כשיש קוליניאריות.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 בתוצאה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mean_IR: R²≈0.58-0.62 בשלוש הגרסאות - קשר אמיתי. שאר שלושת היעדים: R² קרוב ל-0 או שלילי - שילוב הפיצ'רים לא עוזר להם, לא רק פיצ'ר בודד.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</a:rPr>
              <a:t>Figure 10: Combined Regression (Logistic) — severity_present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4A4A4A"/>
                </a:solidFill>
              </a:rPr>
              <a:t>Same 3 feature-sets, this time for the binary classification track — CV AUC, not R²</a:t>
            </a:r>
          </a:p>
        </p:txBody>
      </p:sp>
      <p:pic>
        <p:nvPicPr>
          <p:cNvPr id="7" name="Picture 6" descr="combined_regression_classifica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308860"/>
            <a:ext cx="41148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data/processed/models/figures/combined_regression_classification_summary.png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איור 10: רגרסיה לוגיסטית משולבת — severity_present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3 עמודות (קבוצות פיצ'רים), גובה = AUC מ-5-fold CV. קו מקווקו ב-0.5 = ניחוש אקראי.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המודל: Logistic Regression עם רגולריזציית L2 - למה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sklearn.linear_model.LogisticRegression(penalty="l2", C=1.0, class_weight="balanced"). נבחרה רגרסיה לוגיסטית כי היעד בינארי (0/1) - לא ניתן להשתמש ברגרסיה ליניארית רגילה. class_weight="balanced" מפצה על כך שרק 10.7% מהתצפיות חיוביות. רגולריזציית L2 - מאותה סיבה כמו Ridge לעיל (קוליניאריות).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התוצאה - הממצא החיובי המרכזי בכל הפרויקט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AUC≈0.75-0.77 בשלוש הגרסאות - הרבה מעל 0.5. זו הוכחה שהחלטת המסגור-מחדש (מרגרסיה על severity_hosp_per_case, שנכשלה, לסיווג בינארי) הייתה נכונה בפועל.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</a:rPr>
              <a:t>Figure 11: FDR Correction Illustration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4A4A4A"/>
                </a:solidFill>
              </a:rPr>
              <a:t>Benjamini-Hochberg: sorted raw p-values vs. the rank-dependent threshold, one panel per track</a:t>
            </a:r>
          </a:p>
        </p:txBody>
      </p:sp>
      <p:pic>
        <p:nvPicPr>
          <p:cNvPr id="7" name="Picture 6" descr="fdr_correction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280" y="1965960"/>
            <a:ext cx="7010399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data/processed/models/figures/fdr_correction_illustration.png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איור 11: הדגמת תיקון FDR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5 פאנלים (אחד לכל מסלול). בכל אחד: 19 ה-p-values ממוינים מהקטן לגדול מול הדירוג שלהם, וקו מקווקו = סף Benjamini-Hochberg (i/19)×0.05. נקודה כחולה = שורדת את התיקון.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איך זה נוצר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לכל מסלול: מיון p-values, חישוב הסף לכל דירוג, והשוואה - זו בדיוק המחשה גרפית של אלגוריתם ה-BH, לא רק הטבלה עצמה.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למה זה חשוב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רואים ויזואלית למה 18/19 פיצ'רים "שורדים" ב-mean_IR (כל הנקודות מתחת לקו) לעומת 0/19 ב-slope_to_peak_IR (אפילו ה-p-value הקטן ביותר מעל הקו שלו) - זו לא הכרעה שרירותית אלא תוצאה ישירה של הנתונים.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A44"/>
                </a:solidFill>
              </a:rPr>
              <a:t>Figure 12: R² Summary Heatmap — All Regression Tracks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4A4A4A"/>
                </a:solidFill>
              </a:rPr>
              <a:t>Two panels: univariate CV R² (19x4) and combined CV R² (3x4) — the single most comprehensive results figure</a:t>
            </a:r>
          </a:p>
        </p:txBody>
      </p:sp>
      <p:pic>
        <p:nvPicPr>
          <p:cNvPr id="7" name="Picture 6" descr="r2_results_heatm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484" y="2011680"/>
            <a:ext cx="668655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09090"/>
                </a:solidFill>
              </a:rPr>
              <a:t>data/processed/models/figures/r2_results_heatmap_summary.png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איור 12: מפת ה-R² המסכמת (האיור המרכזי)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שני היטמפים זה לצד זה - שמאל: R² חד-משתני (19×4), כוכבית=מובהק אחרי FDR. ימין: R² משולב (3×4). אדום=חיובי, כחול=שלילי.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איך זה נוצר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imshow על טבלאות pivot מתוך wave2_univariate_screen_results.csv ו-wave2_combined_regression_results.csv, עם ערכים מודפסים בכל תא לקריאות מקסימלית.</a:t>
            </a:r>
          </a:p>
          <a:p>
            <a:pPr algn="r">
              <a:spcAft>
                <a:spcPts val="600"/>
              </a:spcAft>
            </a:pPr>
            <a:r>
              <a:rPr sz="1700" b="1" lang="he-IL">
                <a:solidFill>
                  <a:srgbClr val="1F2A44"/>
                </a:solidFill>
              </a:rPr>
              <a:t>למה זה האיור המרכזי של כל הפרויקט</a:t>
            </a:r>
          </a:p>
          <a:p>
            <a:pPr lvl="1" algn="r">
              <a:spcAft>
                <a:spcPts val="300"/>
              </a:spcAft>
            </a:pPr>
            <a:r>
              <a:rPr sz="1400" b="0" lang="he-IL">
                <a:solidFill>
                  <a:srgbClr val="4A4A4A"/>
                </a:solidFill>
              </a:rPr>
              <a:t>– זהו האיור היחיד שמציג בבת אחת את **כל** תוצאות ה-R² - גם ברמת פיצ'ר בודד וגם ברמת מודל משולב, על פני כל 4 היעדים הרציפים. מבט אחד עליו מספיק כדי להבין: mean_IR עובד, slope_to_peak_IR לא, ושני האחרים באמצע.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