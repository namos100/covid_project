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lang="en-US">
                <a:solidFill>
                  <a:srgbClr val="1F2A44"/>
                </a:solidFill>
              </a:rPr>
              <a:t>Wave-2 Models: Detailed Walkthrough</a:t>
            </a:r>
          </a:p>
          <a:p>
            <a:pPr algn="l"/>
            <a:r>
              <a:rPr sz="2000" b="0" lang="en-US">
                <a:solidFill>
                  <a:srgbClr val="4A4A4A"/>
                </a:solidFill>
              </a:rPr>
              <a:t>Every model type in build_models.ipynb — what it is, what it ran on, and what the results mean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29000"/>
            <a:ext cx="4114800" cy="508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scripts/build_models.ipynb · 110 models · 5 modeling tracks · wave2_model_table.csv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Overview: 5 Tracks, 110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4 continuous targets + 1 binary reframe of severity_hosp_per_case (87% zeros)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Every track: 19 univariate models (Stage 1) + 3 combined-regression models (Stage 2)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5-fold GroupKFold cross-validation, grouped by town, throughout</a:t>
            </a:r>
          </a:p>
        </p:txBody>
      </p:sp>
      <p:pic>
        <p:nvPicPr>
          <p:cNvPr id="7" name="Picture 6" descr="modeling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38" y="2391600"/>
            <a:ext cx="9564218" cy="404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wave2_model_table.csv — 1,008 areas, 816 with all 19 features present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סקירה: 5 מסלולים, 110 מודלים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נבנה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5 "מסלולים" (targets): mean_IR, peak_IR, slope_to_peak_IR, severity_hosp_per_case (כולם רגרסיה) ו-severity_present (סיווג בינארי, severity_hosp_per_case&gt;0). לכל מסלול: 19 מודלים חד-משתניים (שלב 1) + 3 מודלים משולבים (שלב 2) = 22 מודלים למסלול, 110 בסה"כ.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למה יש מסלול בינארי נוסף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severity_hosp_per_case הוא בדיוק 0 ב-87% מהאזורים (zero-inflated) - רגרסיה רגילה לא מייצגת נתון כזה נאמנה. הניסוח מחדש כשאלת סיווג ("האם היה בכלל נטל אשפוזים מדיד") מאפשר למודל לתפוס אות אמיתי - וזה בפועל המסלול עם התוצאות הכי חזקות מכל 5.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האימות (cross-validation) המשותף לכולם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5-fold GroupKFold, מקובץ לפי town_code - תת-אזורים של אותה עיר לעולם לא מתפצלים בין train ל-test. פיצול רגיל (KFold) היה מאפשר לשני תת-אזורים כמעט זהים של אותה עיר להיות אחד ב-train ואחד ב-test, מה שמנפח ציון באופן מלאכותי (דליפת מידע גיאוגרפית).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Model Type 1: Linear Regression (Univariate Screen)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One census feature at a time, vs. each of the 4 continuous targets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scipy.stats.linregress for effect/p-value + sklearn LinearRegression for 5-fold CV R2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19 features x 4 targets = 76 models</a:t>
            </a:r>
          </a:p>
        </p:txBody>
      </p:sp>
      <p:pic>
        <p:nvPicPr>
          <p:cNvPr id="7" name="Picture 6" descr="univariate_mean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1600"/>
            <a:ext cx="5427207" cy="3618138"/>
          </a:xfrm>
          <a:prstGeom prst="rect">
            <a:avLst/>
          </a:prstGeom>
        </p:spPr>
      </p:pic>
      <p:pic>
        <p:nvPicPr>
          <p:cNvPr id="8" name="Picture 7" descr="univariate_slope_to_peak_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847" y="2391600"/>
            <a:ext cx="5427207" cy="36181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Left: mean_IR, 18/19 features FDR-significant. Right: slope_to_peak_IR, 0/19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מודל 1: רגרסיה לינארית (סינון חד-משתני)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זה המודל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רגרסיה לינארית פשוטה: y = a + b·x, פיצ'ר בודד מול target בודד. לכל זוג (פיצ'ר, מסלול) שני חישובים נפרדים: scipy.stats.linregress נותן את effect (השיפוע b), מקדם המתאם r, ו-p-value לבדיקת H0: b=0; ובנפרד sklearn.LinearRegression דרך 5-fold GroupKFold cross-validation נותן R² על נתונים שלא נראו באימון.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אילו הרצות נעשו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19 פיצ'רי מפקד (7 עמודות-נציג כמו age65_pcnt/size_avg, 7 אינדקסי-PCA כמו household_family_idx/employment_idx, 5 עמודות עצמאיות כמו pop_approx) x 4 מסלולים רציפים = 76 מודלים, כל אחד עם פיצ'ר בודד - בלי שילוב בשלב הזה, כדי לבודד את התרומה הגולמית של כל משתנה לפני שמערבבים.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התוצאה - איך קוראים R²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R² הוא אחוז השונות ב-target שהמודל מסביר: 1=מושלם, 0=שווה לניחוש הממוצע, שלילי=גרוע יותר מניחוש הממוצע (קורה כי זה CV, לא in-sample). ב-mean_IR (משמאל), 18 מתוך 19 הפיצ'רים שרדו FDR - החזק ביותר household_family_idx לבדו נותן R²≈0.48. לעומת זאת ב-slope_to_peak_IR (מימין) - אף פיצ'ר לא שרד FDR: אין אות ניתן לזיהוי, מכל פיצ'ר בודד.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מסקנה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רגרסיה לינארית חד-משתנית מגלה בבירור קשר אמיתי לרמת ה-IR הממוצעת, אך לא לקצב העלייה לשיא - זו לא בעיה בקוד, זו תכונה של הנתונים עצמם.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 — figures/univariate_mean_IR.png, univariate_slope_to_peak_IR.png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Model Type 2: Logistic Regression (Univariate Screen)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Same one-feature-at-a-time idea, target = severity_present (binary)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statsmodels.Logit for p-value + McFadden pseudo-R2, sklearn LogisticRegression for CV AUC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class_weight='balanced' — only ~13% of areas are positive</a:t>
            </a:r>
          </a:p>
        </p:txBody>
      </p:sp>
      <p:pic>
        <p:nvPicPr>
          <p:cNvPr id="7" name="Picture 6" descr="univariate_severity_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047" y="2391600"/>
            <a:ext cx="6069600" cy="404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16/19 features FDR-significant — top feature household_family_idx, AUC=0.77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מודל 2: רגרסיה לוגיסטית (סינון חד-משתני)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600" b="1" lang="he-IL">
                <a:solidFill>
                  <a:srgbClr val="1F2A44"/>
                </a:solidFill>
              </a:rPr>
              <a:t>מה זה המודל</a:t>
            </a:r>
          </a:p>
          <a:p>
            <a:pPr algn="r">
              <a:spcAft>
                <a:spcPts val="1259"/>
              </a:spcAft>
            </a:pPr>
            <a:r>
              <a:rPr sz="1300" b="0" lang="he-IL">
                <a:solidFill>
                  <a:srgbClr val="4A4A4A"/>
                </a:solidFill>
              </a:rPr>
              <a:t>– רגרסיה לוגיסטית מנבאת הסתברות לתוצאה בינארית (0/1) דרך פונקציית sigmoid, לא ערך רציף. כאן: severity_present (1 אם היה נטל אשפוזים מדיד, 0 אם לא). לכל פיצ'ר בנפרד - statsmodels.Logit נותן p-value (Wald test) ו-McFadden pseudo-R² (מקביל ל-R² אך לא זהה לו מתמטית); ובנפרד sklearn.LogisticRegression עם class_weight='balanced' דרך 5-fold GroupKFold נותן AUC.</a:t>
            </a:r>
          </a:p>
          <a:p>
            <a:pPr algn="r">
              <a:spcAft>
                <a:spcPts val="472"/>
              </a:spcAft>
            </a:pPr>
            <a:r>
              <a:rPr sz="1600" b="1" lang="he-IL">
                <a:solidFill>
                  <a:srgbClr val="1F2A44"/>
                </a:solidFill>
              </a:rPr>
              <a:t>למה class_weight='balanced'</a:t>
            </a:r>
          </a:p>
          <a:p>
            <a:pPr algn="r">
              <a:spcAft>
                <a:spcPts val="1259"/>
              </a:spcAft>
            </a:pPr>
            <a:r>
              <a:rPr sz="1300" b="0" lang="he-IL">
                <a:solidFill>
                  <a:srgbClr val="4A4A4A"/>
                </a:solidFill>
              </a:rPr>
              <a:t>– רק כ-13% מהאזורים הם positive (severity_present=1). בלי איזון המשקלים, מודל שפשוט מנחש תמיד 0 היה מקבל דיוק (accuracy) גבוה מטעה - class_weight='balanced' מכריח את המודל להתייחס ברצינות גם למחלקת המיעוט.</a:t>
            </a:r>
          </a:p>
          <a:p>
            <a:pPr algn="r">
              <a:spcAft>
                <a:spcPts val="472"/>
              </a:spcAft>
            </a:pPr>
            <a:r>
              <a:rPr sz="1600" b="1" lang="he-IL">
                <a:solidFill>
                  <a:srgbClr val="1F2A44"/>
                </a:solidFill>
              </a:rPr>
              <a:t>אילו הרצות נעשו</a:t>
            </a:r>
          </a:p>
          <a:p>
            <a:pPr algn="r">
              <a:spcAft>
                <a:spcPts val="1259"/>
              </a:spcAft>
            </a:pPr>
            <a:r>
              <a:rPr sz="1300" b="0" lang="he-IL">
                <a:solidFill>
                  <a:srgbClr val="4A4A4A"/>
                </a:solidFill>
              </a:rPr>
              <a:t>– אותם 19 פיצ'רים כמו במודל 1, פעם אחת בכל פעם, מול severity_present בלבד - 19 מודלים.</a:t>
            </a:r>
          </a:p>
          <a:p>
            <a:pPr algn="r">
              <a:spcAft>
                <a:spcPts val="472"/>
              </a:spcAft>
            </a:pPr>
            <a:r>
              <a:rPr sz="1600" b="1" lang="he-IL">
                <a:solidFill>
                  <a:srgbClr val="1F2A44"/>
                </a:solidFill>
              </a:rPr>
              <a:t>התוצאה - איך קוראים AUC</a:t>
            </a:r>
          </a:p>
          <a:p>
            <a:pPr algn="r">
              <a:spcAft>
                <a:spcPts val="1259"/>
              </a:spcAft>
            </a:pPr>
            <a:r>
              <a:rPr sz="1300" b="0" lang="he-IL">
                <a:solidFill>
                  <a:srgbClr val="4A4A4A"/>
                </a:solidFill>
              </a:rPr>
              <a:t>– AUC (Area Under the ROC Curve) הוא ההסתברות שהמודל ידרג אזור positive אקראי גבוה יותר מאזור negative אקראי - 0.5=ניחוש מטבע, 1.0=הפרדה מושלמת. כאן 16 מתוך 19 הפיצ'רים שרדו FDR, והחזק ביותר (household_family_idx) לבדו נותן AUC≈0.77.</a:t>
            </a:r>
          </a:p>
          <a:p>
            <a:pPr algn="r">
              <a:spcAft>
                <a:spcPts val="472"/>
              </a:spcAft>
            </a:pPr>
            <a:r>
              <a:rPr sz="1600" b="1" lang="he-IL">
                <a:solidFill>
                  <a:srgbClr val="1F2A44"/>
                </a:solidFill>
              </a:rPr>
              <a:t>מסקנה</a:t>
            </a:r>
          </a:p>
          <a:p>
            <a:pPr algn="r">
              <a:spcAft>
                <a:spcPts val="1259"/>
              </a:spcAft>
            </a:pPr>
            <a:r>
              <a:rPr sz="1300" b="0" lang="he-IL">
                <a:solidFill>
                  <a:srgbClr val="4A4A4A"/>
                </a:solidFill>
              </a:rPr>
              <a:t>– זה המסלול עם התוצאות הכי חזקות מבין כל 5 - כבר ברמת פיצ'ר בודד. המעבר לניסוח בינארי (במקום הרגרסיה הרציפה שנכשלה) לא רק "פתר בעיה טכנית" אלא בפועל תפס אות אמיתי.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 — figures/univariate_severity_present.png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Statistical Correction: Benjamini-Hochberg FDR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Applied separately within each track's 19 p-values (not pooled across all 95 tests)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alpha = 0.05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Without it, ~1 'significant' feature is expected per track by chance alone</a:t>
            </a:r>
          </a:p>
        </p:txBody>
      </p:sp>
      <p:pic>
        <p:nvPicPr>
          <p:cNvPr id="7" name="Picture 6" descr="fdr_correction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47" y="2391600"/>
            <a:ext cx="6744000" cy="404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5 panels, one per track — sorted p-values vs. the Benjamini-Hochberg threshold 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תיקון סטטיסטי: Benjamini-Hochberg FDR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למה צריך את זה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בכל מסלול יש 19 בדיקות p-value נפרדות (אחת לכל פיצ'ר). ברמת מובהקות רגילה 0.05, גם אם באמת אין שום קשר לאף פיצ'ר, מצפים ל-~1 תוצאה "מובהקת" סתם באקראי (19×0.05≈0.95). בלי תיקון, קל "למצוא" ממצא מזויף.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איך זה עובד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ממיינים את 19 ה-p-values מהקטן לגדול (דירוג i=1..19), ומשווים כל אחד לסף (i/19)×0.05 - סף שעולה ככל שהדירוג גבוה יותר. פיצ'ר "שורד" אם ה-p-value שלו קטן או שווה לסף שלו, וכל הפיצ'רים המדורגים לפניו שרדו גם הם. מיושם בנפרד לכל אחד מ-5 המסלולים (95 בדיקות בסה"כ, אבל 5 "משפחות" נפרדות של 19) - לא על כל ה-95 ביחד, כי כל מסלול הוא שאלה נפרדת.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 בגרף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כל פאנל הוא מסלול: נקודות כחולות = מתחת לסף (שורדות), אפורות = לא. ב-mean_IR כמעט כל הנקודות כחולות. ב-slope_to_peak_IR - אפילו ה-p-value הקטן ביותר בדירוג כבר מעל הסף שלו, אז אף פיצ'ר לא שורד.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מסקנה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התיקון הזה הוא מה שהופך "יש p-value נמוך" ל"זה ממצא אמיתי שאפשר לדווח עליו" - קריטי במיוחד כשיש הרבה בדיקות באותו dataset, כמו כאן.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 — figures/fdr_correction_illustration.png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Diagnostic: Feature x Target Correlation Heatmap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Pearson r between each of the 19 features and each of the 5 targets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Direction and rough magnitude only — not a significance test</a:t>
            </a:r>
          </a:p>
        </p:txBody>
      </p:sp>
      <p:pic>
        <p:nvPicPr>
          <p:cNvPr id="7" name="Picture 6" descr="feature_target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47" y="2111600"/>
            <a:ext cx="3785600" cy="432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Red = positive, blue = negative, white ~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איור אבחוני: מפת חום מתאמים פיצ'ר-מול-מסלול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זה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מקדם מתאם פירסון (r) - מודד קשר לינארי בין שני משתנים, בין -1 (קשר שלילי מושלם) ל-1 (חיובי מושלם), 0=אין קשר לינארי. חישוב פשוט על כל הנתונים ביחד (לא CV, לא p-value) - כלי לניווט מהיר, לא תוצאה סטטיסטית בפני עצמה.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עמודת mean_IR "צבועה" חזק (הרבה r גבוהים בערך מוחלט) - תואם את ה-R² הגבוה שנראה במודל 1. עמודת slope_to_peak_IR כמעט כולה לבנה (r קרוב ל-0 בכל השורות) - תואם בדיוק את 0 מתוך 19 המובהקים ב-FDR.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למה זה חשוב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זה "צילום מצב" שמאשש ויזואלית, בלי צורך להריץ שום מודל, את מה שהמודלים החד-משתניים כבר מצאו - כלי תקשורת טוב יותר מטבלה של 95 מספרים.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 — figures/feature_target_correlation_heatmap.png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Model Type 3: Ridge Regression (Combined Features)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3 feature-sets per continuous target: representatives (7) / indices (7) / both (19)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sklearn Ridge(alpha=1.0), 5-fold GroupKFold CV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4 targets x 3 sets = 12 models</a:t>
            </a:r>
          </a:p>
        </p:txBody>
      </p:sp>
      <p:pic>
        <p:nvPicPr>
          <p:cNvPr id="7" name="Picture 6" descr="combined_regression_continuo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157" y="2391600"/>
            <a:ext cx="6621381" cy="404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mean_IR 'both' = 0.622 R2. peak_IR / slope_to_peak_IR / severity_hosp_per_case all near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מודל 3: רגרסיית Ridge (פיצ'רים משולבים)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זה המודל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Ridge = רגרסיה לינארית רגילה + עונש (רגולריזציה) על גודל המקדמים: במקום למזער רק את שגיאת החיזוי, ממזערים שגיאת חיזוי + alpha×(סכום ריבועי המקדמים). alpha=1.0 כאן. זה "מרסן" מקדמים גדולים/לא יציבים - חשוב כשיש קורלציה גבוהה בין הפיצ'רים (multicollinearity), ש-OLS רגיל מתמודד איתה גרוע.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אילו הרצות נעשו, ולמה יש שילוב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3 קבוצות פיצ'רים לכל אחד מ-4 המסלולים הרציפים: "representatives" (7 העמודות הגולמיות הנציגות, אחת לכל domain מפקד), "indices" (7 אינדקסי ה-PCA המקבילים), ו-"both" (כל ה-19 ביחד). הסיבה שצריך Ridge דווקא כאן: העמודה הנציגה והאינדקס של אותו domain מתואמים ביניהם עד r=0.99 - OLS רגיל היה נותן מקדמים לא יציבים.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התוצאה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cv_score = R² מ-5-fold CV, in_sample_score = R² על הנתונים שהמודל אומן עליהם (תמיד אופטימי מדי), overfit_gap = ההפרש. ב-mean_IR: "both" נותן R²=0.622 (overfit_gap קטן, 0.039) - שילוב עוזר קצת מעבר לכל קבוצה לבד (≈0.58 כל אחת). בשלושת המסלולים האחרים - כל שלוש הקבוצות קרובות ל-0 או שליליות (slope_to_peak_IR "both"=-0.059).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מסקנה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שילוב פיצ'רים לא "מציל" מסלול שאין בו אות מלכתחילה - הוא רק משפר מעט מסלול שכבר יש בו אות חזק (mean_IR).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 — figures/combined_regression_continuous_summary.png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Model Type 4: L2-Penalized Logistic Regression (Combined Features)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Same 3 feature-sets, target = severity_present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sklearn LogisticRegression(penalty='l2', C=1.0, class_weight='balanced')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3 models</a:t>
            </a:r>
          </a:p>
        </p:txBody>
      </p:sp>
      <p:pic>
        <p:nvPicPr>
          <p:cNvPr id="7" name="Picture 6" descr="combined_regression_classific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07" y="2391600"/>
            <a:ext cx="4855680" cy="404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AUC 0.75-0.77 across all 3 feature-sets — the strongest result in the whole notebook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מודל 4: רגרסיה לוגיסטית עם רגולריזציית L2 (פיצ'רים משולבים)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זה המודל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אותו רעיון כמו Ridge, אבל לרגרסיה לוגיסטית: penalty='l2' מוסיף עונש על גודל המקדמים (C=1.0 - ב-sklearn C הוא ההופכי של עוצמת הרגולריזציה, כך ש-C קטן=רגולריזציה חזקה יותר). class_weight='balanced' נשאר גם כאן, מאותה סיבה כמו במודל 2.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אילו הרצות נעשו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אותן 3 קבוצות פיצ'רים (representatives/indices/both) כמו ב-Ridge, הפעם מול severity_present בלבד - 3 מודלים.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התוצאה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AUC נשאר גבוה ויציב בכל שלוש הקבוצות: representatives=0.766, indices=0.750, both=0.757 - כלומר גם קבוצת פיצ'רים קטנה יחסית (7 בלבד) כבר מספיקה כדי להגיע כמעט לתקרה. overfit_gap גדול יחסית (0.04-0.07), אבל ה-CV score עצמו נשאר גבוה בהרבה מ-0.5 - יש כאן אות אמיתי, לא רק שינון של המדגם.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מסקנה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זה הממצא החיובי המרכזי של כל 110 המודלים: אי אפשר לחזות כמה חמור בדיוק יהיה נטל האשפוזים (R²≈0.02 ברגרסיה הרציפה המקבילה), אבל אפשר לחזות באופן סביר-מאוד האם בכלל יהיה נטל מדיד, מתוך נתוני המפקד בלבד.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 — figures/combined_regression_classification_summary.png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Results Summary: R2 Across All Regression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Left: 19 univariate models x 4 targets. Right: 3 combined models x 4 targets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severity_present excluded (AUC scale, not comparable to R2)</a:t>
            </a:r>
          </a:p>
        </p:txBody>
      </p:sp>
      <p:pic>
        <p:nvPicPr>
          <p:cNvPr id="7" name="Picture 6" descr="r2_results_heatm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647" y="2111600"/>
            <a:ext cx="7030400" cy="432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Red = positive R2, blue = negative (worse than the mean baseline)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סיכום תוצאות: R² על פני כל מסלולי הרגרסיה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רואים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שני היטמפים זה לצד זה: משמאל 19 פיצ'רים (שלב 1, חד-משתני) x 4 מסלולים, מימין 3 קבוצות-פיצ'רים (שלב 2, משולב) x 4 מסלולים. severity_present לא נכלל כי הוא בסקאלת AUC, לא R², ולא ניתן להשוואה ישירה על אותה עמודת-צבע.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זה אומר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עמודת mean_IR כולה אדומה (הרבה R² חיוביים) בשני הפאנלים. עמודת slope_to_peak_IR כמעט כולה לבנה/כחולה בהירה בשני הפאנלים - שום פיצ'ר, גם לא בשילוב, לא עוזר. peak_IR ו-severity_hosp_per_case באמצע - חלשים אבל לא אפסיים לגמרי.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מסקנה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האיור הזה הוא סיכום-העל של כל תוצאות ה-R²: mean_IR הוא הסיפור החיובי היחיד בין המסלולים הרציפים, וזה עקבי בין שלב 1 לשלב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 — figures/r2_results_heatmap_summary.png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en-US">
                <a:solidFill>
                  <a:srgbClr val="1F2A44"/>
                </a:solidFill>
              </a:rPr>
              <a:t>Overall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lang="en-US">
                <a:solidFill>
                  <a:srgbClr val="4A4A4A"/>
                </a:solidFill>
              </a:rPr>
              <a:t>mean_IR and severity_present: real, FDR-survived, cross-validated signal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peak_IR, slope_to_peak_IR, severity_hosp_per_case (as regression): no defensible signal</a:t>
            </a:r>
          </a:p>
          <a:p>
            <a:pPr algn="l"/>
            <a:r>
              <a:rPr sz="1550" b="0" lang="en-US">
                <a:solidFill>
                  <a:srgbClr val="4A4A4A"/>
                </a:solidFill>
              </a:rPr>
              <a:t>Strongest single feature across both positive tracks: household_family_idx</a:t>
            </a:r>
          </a:p>
        </p:txBody>
      </p:sp>
      <p:pic>
        <p:nvPicPr>
          <p:cNvPr id="7" name="Picture 6" descr="modeling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38" y="2391600"/>
            <a:ext cx="9564218" cy="4046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en-US">
                <a:solidFill>
                  <a:srgbClr val="909090"/>
                </a:solidFill>
              </a:rPr>
              <a:t>See wave2_univariate_screen_results.csv / wave2_combined_regression_results.csv for full numbers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lang="he-IL">
                <a:solidFill>
                  <a:srgbClr val="C98A2B"/>
                </a:solidFill>
              </a:rPr>
              <a:t>הסבר מפורט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lang="he-IL">
                <a:solidFill>
                  <a:srgbClr val="1F2A44"/>
                </a:solidFill>
              </a:rPr>
              <a:t>מסקנות סופיות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8100"/>
          </a:xfrm>
          <a:prstGeom prst="rect">
            <a:avLst/>
          </a:prstGeom>
          <a:solidFill>
            <a:srgbClr val="C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502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נתמך סטטיסטית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mean_IR ו-severity_present: קשר אמיתי, עמיד לתיקון FDR, ומאומת ב-cross-validation קבוצתי לפי עיר - שני הממצאים היחידים שאפשר לדווח עליהם כ"אות סטטיסטי בר-הגנה" ולא רק "נראה מעניין".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מה לא נתמך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peak_IR, slope_to_peak_IR, ו-severity_hosp_per_case כרגרסיה רציפה - אין להם אות שרוד FDR או CV R² חיובי משמעותי בשום קבוצת פיצ'רים. slope_to_peak_IR באופן ספציפי - 0 מתוך 19 פיצ'רים מובהקים, זה לא "חלש", זה "לא נמצא כלום".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הפיצ'ר החוזר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household_family_idx (אינדקס PCA של domain המשפחה/משק הבית) הוא הפיצ'ר החזק ביותר בשני המסלולים החיוביים (mean_IR ו-severity_present) - מרמז שמבנה משק הבית קשור באמת לתחלואת קורונה בגל 2, לא רק צירוף מקרים.</a:t>
            </a:r>
          </a:p>
          <a:p>
            <a:pPr algn="r">
              <a:spcAft>
                <a:spcPts val="472"/>
              </a:spcAft>
            </a:pPr>
            <a:r>
              <a:rPr sz="1700" b="1" lang="he-IL">
                <a:solidFill>
                  <a:srgbClr val="1F2A44"/>
                </a:solidFill>
              </a:rPr>
              <a:t>לשאלת גל 2</a:t>
            </a:r>
          </a:p>
          <a:p>
            <a:pPr algn="r">
              <a:spcAft>
                <a:spcPts val="1259"/>
              </a:spcAft>
            </a:pPr>
            <a:r>
              <a:rPr sz="1400" b="0" lang="he-IL">
                <a:solidFill>
                  <a:srgbClr val="4A4A4A"/>
                </a:solidFill>
              </a:rPr>
              <a:t>– התשובה לשאלת המחקר המקורית - "האם מאפייני מפקד קשורים לתחלואה בגל 2" - היא כן, אבל חלקית: לרמת התחלואה הממוצעת ולעצם קיום נטל אשפוזים - כן; לעוצמת השיא, לקצב ההתפרצות, ולחומרת האשפוזים המדויקת - לא, על סמך הנתונים והמודלים האלה.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he-IL">
                <a:solidFill>
                  <a:srgbClr val="909090"/>
                </a:solidFill>
              </a:rPr>
              <a:t>scripts/build_models.ipynb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