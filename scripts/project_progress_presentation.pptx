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A44"/>
                </a:solidFill>
              </a:rPr>
              <a:t>Predicting Wave-2 COVID-19 Outcomes
from Socio-Demographic Census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88920"/>
            <a:ext cx="4114800" cy="508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4A4A4A"/>
                </a:solidFill>
              </a:rPr>
              <a:t>1.  Census data preparation - building the geographic join key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4A4A4A"/>
                </a:solidFill>
              </a:rPr>
              <a:t>2.  Dimension reduction - 70 raw census columns -&gt; 27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4A4A4A"/>
                </a:solidFill>
              </a:rPr>
              <a:t>3.  Wave-2 COVID feature engineering - 4 new target variables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4A4A4A"/>
                </a:solidFill>
              </a:rPr>
              <a:t>4.  Merging COVID and census data into one modeling table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4A4A4A"/>
                </a:solidFill>
              </a:rPr>
              <a:t>5.  Modeling - 110 models, FDR-corrected,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Progress overview - work completed so far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סדר היום ומבנה המצגת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מה כוללת המצגת הזו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סקירה של כל העבודה שבוצעה עד כה בפרויקט - מהנתונים הגולמיים ועד למודלים הסופיים.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5 השלבים המרכזיים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הכנת נתוני המפקד: בניית מפתח הצירוף בין נתוני הקורונה למפקד האוכלוסין.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הורדת מימדים: צמצום 70 עמודות מפקד גולמיות ל-27 עמודות שמתאימות למידול.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הנדסת פיצ'רים לגל השני: בניית 4 משתני-יעד חדשים (רמת הדבקה, שיא, קצב, חומרה) מתוך נתוני הקורונה הגולמיים, על חלון זמן ספציפי (1.6-31.10.2020).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מיזוג: איחוד טבלת הקורונה של הגל השני עם נתוני המפקד המצומצמים לטבלה אחת מוכנה למידול.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מידול: 110 מודלים (סריקה חד-משתנית + רגרסיה משולבת) על 5 יעדים, עם תיקון לריבוי-בדיקות (FDR) ותוצאות.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לכל שקופית באנגלית במצגת יש שקופית הסבר בעברית מיד אחריה - כמו זו.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Step 1: Census Data Preparation — Building the Join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City_agas_code = locality code + statistical sub-area code, matching the COVID-side format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Extended coverage: synthesized missing whole-city rows, filled combined sub-area records</a:t>
            </a:r>
          </a:p>
        </p:txBody>
      </p:sp>
      <p:pic>
        <p:nvPicPr>
          <p:cNvPr id="7" name="Picture 6" descr="diagram_join_ke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59" y="2834640"/>
            <a:ext cx="103632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scripts/preprocessing_mifkak2_naama.ipynb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בניית מפתח הצירוף למפקד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דיאגרמת תהליך בת 5 תיבות מחוברות בחצים: מהקובץ הגולמי (משמאל), דרך ניקוי מפתחות, בניית המפתח והרחבת הכיסוי, ועד לקובץ המעובד הסופי (מימין) - כל תיבה מייצגת שלב אחד בקוד בפועל, לפי סדר הריצה.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למה צריך את זה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נתוני הקורונה ונתוני המפקד מגיעים כל אחד עם קידוד גיאוגרפי משלו - חייבים מפתח אחד משותף כדי לחבר ביניהם בהמשך.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איך בונים את המפתח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City_agas_code = סמל יישוב + סמל אזור סטטיסטי, עם סיומת "0" ליישובים שלא מחולקים לתתי-אזורים - בדיוק כמו הפורמט שכבר קיים בצד הקורונה.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הרחבת הכיסוי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חלק מהיישובים לא היו כלל עם שורת "עיר שלמה" - נוצרה כזו באופן מלאכותי (מסומנת בדגל ייעודי) על ידי סכימת תתי-האזורים שלה.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הושלמו גם רשומות שהיו מאוחדות בין כמה אזורים סטטיסטיים, לכל אזור שהן מכסות - רק כשלא היה כבר ערך אמיתי, כדי לא לדרוס נתונים.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בדיקות תקינות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לפני ואחרי כל שינוי: ודאנו שהמפתח החדש עדיין ייחודי לכל שורה, ללא ערכים חסרים או ריקים.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מסקנה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המפתח שנבנה כאן הוא הבסיס שכל שלב אחר כך (צמצום מפקד, מיזוג, מידול) נשען עליו - שגיאה בשלב הזה הייתה משפיעה על כל מה שבא אחריו.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Step 2: Dimension Reduction — 70 Columns →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7 thematic domains, each reduced to 1 representative + 1 PCA composite index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13 standalone columns kept unchanged</a:t>
            </a:r>
          </a:p>
        </p:txBody>
      </p:sp>
      <p:pic>
        <p:nvPicPr>
          <p:cNvPr id="7" name="Picture 6" descr="diagram_featur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93442"/>
            <a:ext cx="6675120" cy="3671315"/>
          </a:xfrm>
          <a:prstGeom prst="rect">
            <a:avLst/>
          </a:prstGeom>
        </p:spPr>
      </p:pic>
      <p:pic>
        <p:nvPicPr>
          <p:cNvPr id="8" name="Picture 7" descr="age_structure_representative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4114800" cy="2468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20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A4A4A"/>
                </a:solidFill>
              </a:rPr>
              <a:t>Real evidence: age_structure representative vs. its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scripts/preprocessing_mifkak2_naama.ipynb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צמצום פיצ'רי המפקד: 70 →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שני איורים. מימין לתרשים: הזרימה הלוגית - 70 עמודות גולמיות (משמאל) מתקבצות ל-7 תחומים, כל תחום מצטמצם לשתי עמודות, ומצטרפות ל-13 העמודות העצמאיות לכדי 27 עמודות (מימין). משמאל: גרף עמודות אמיתי - מתאם הנציג age65_pcnt מול שאר עמודות תחום הגיל, עם קווי סף ב-0.7±.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הבעיה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70 העמודות הגולמיות במפקד כוללות הרבה עמודות שמתארות בעצם את אותה תופעה (למשל כל עמודות הגיל נעות יחד) - ריבוי-קוליניאריות שמקשה על פרשנות המודל.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השיטה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חלוקה ל-7 תחומים תמטיים (גיל, מוצא, משפחה, תעסוקה, הכנסה, דיור, נכות). לכל תחום נשמרות רק שתי עמודות: נציג גולמי אחד (הכי אינטואיטיבי לפרשנות) ומדד משולב אחד מבוסס PCA שתופס יותר מהמידע המשולב של התחום.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איך יודעים שהנציג באמת מייצג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הגרף שבשקופית - בדיקת תקינות אמיתית: כמה כל עמודה בתחום מתואמת עם הנציג שנבחר. קווי הסף ב-0.7± מראים סף מתאם חזק.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13 העמודות העצמאיות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לא השתייכו לאף בלוק מתואם (למשל צפיפות אוכלוסין, יחס מגדרי) - נשארו ללא שינוי.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סה"כ: 13 + 7×2 = 27 עמודות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מסקנה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הצמצום שומר על רוב המידע (מתאם חזק בין נציג לקבוצה שלו) תוך הפחתת המימדים ב-61% - זו הסיבה שגם בשלב המידול היה צריך להתמודד עם מתאם שיורי בין נציג לאינדקס באותו תחום (עד r=0.99), ולכן נבחר Ridge ולא OLS רגיל.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Step 3: Wave-2 COVID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Window: 2020-06-01 to 2020-10-31 (decline of wave 1 through end of the second lockdown)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4 target variables per area: mean_IR, peak_IR, slope_to_peak_IR, severity_hosp_per_case</a:t>
            </a:r>
          </a:p>
        </p:txBody>
      </p:sp>
      <p:pic>
        <p:nvPicPr>
          <p:cNvPr id="7" name="Picture 6" descr="diagram_wave2_coron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57148"/>
            <a:ext cx="11064240" cy="3063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scripts/build_wave2_ir_severity_table.py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בניית פיצ'רי הקורונה לגל השני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דיאגרמת תהליך בת 6 תיבות: מהקובץ היומי הגולמי, דרך בניית מפתח וסינתוז שורות-עיר, חישוב infection_rate אדפטיבי, סינון לחלון הזמן, ועד לחישוב 4 עמודות היעד וקובץ התוצר הסופי (1,595 אזורים).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למה דווקא הגל השני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יותר מקרים בפועל (פחות רעש), בדיקות זמינות יותר מהגל הראשון, ועדיין לפני תחילת החיסונים (ללא קונפאונד) - וגם נמצא בספרות שהגל הזה פגע בצורה לא-פרופורציונלית בקהילות מסוימות, מה שהופך אותו למעניין במיוחד מול נתוני מפקד.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4 היעדים ולמה כל אחד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mean_IR - רמת ההדבקה הכוללת בחלון. peak_IR - עוצמת השיא (לא רק רמה ממוצעת). slope_to_peak_IR - קצב ההתפשטות (כמה מהר זה קרה). severity_hosp_per_case - חומרה: אשפוזים חלקי מקרים.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שיטת החישוב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infection_rate מחושב בשיטה אדפטיבית (מרחיבה חלון עד 30 בדיקות מצטברות) כדי להתמודד עם ימים דלים בבדיקות - נמנעים מרעש סטטיסטי.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סף כניסה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אזור נכנס לטבלה רק אם יש לו מספיק בדיקות ומקרים בחלון כדי שהמדדים יהיו אמינים - 1,595 מתוך 1,657 אזורים עמדו בסף.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מסקנה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התוצאה היא טבלה חתך-רוחב (שורה לכל אזור) שממירה נתוני קורונה יומיים גולמיים ל-4 מדדי-מצב חד-פעמיים - זו התשתית לכל שלב המיזוג והמידול שבא אחריה.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Step 4: Merging COVID and Census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Left join on City_agas_code, with an explicit has_census flag for unmatched areas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Final table restricted to areas with BOTH covid data AND a census match</a:t>
            </a:r>
          </a:p>
        </p:txBody>
      </p:sp>
      <p:pic>
        <p:nvPicPr>
          <p:cNvPr id="7" name="Picture 6" descr="diagram_merg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75" y="2743200"/>
            <a:ext cx="7807569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scripts/merge_corona_mifkad2.ipynb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מיזוג נתוני הקורונה והמפקד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שתי טבלות משמאל (קורונה גל 2 ומפקד מצומצם) מוזנות ל-2 תיבות תהליך: LEFT JOIN + דגל has_census, ואז סינון ל-has_census==1 - עד לתיבת התוצר הסופי מימין. הכיתוב למעלה מסכם את שיעור ההתאמה בפועל (63.2%).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איך מתבצע המיזוג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Left join לפי המפתח City_agas_code - טבלת הקורונה היא הבסיס, ועמודות המפקד מתווספות אליה איפה שיש התאמה. אזורים ללא התאמה מסומנים בדגל has_census במקום להיזרק בשקט.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זה מתקן חוסר-עקביות שהיה בגרסה קודמת של הקוד, שבה התיעוד טען left join אבל בפועל בוצע inner join שזרק שורות בלי לתעד זאת.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סינון סופי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לצורך המודל, נשארות רק שורות עם גם נתוני קורונה וגם התאמת מפקד (has_census=1) - כי שורה בלי התאמת מפקד חסרת תועלת לבדיקת הקשר בין השניים.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מסקנה - התוצאה במספרים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1,595 אזורים בטבלת הקורונה → 1,008 אזורים (63.2%) עם התאמת מפקד → זו הטבלה שנכנסת למודלים. 36.8% מהאזורים לא נכללים - מגבלה גיאוגרפית ידועה (אי-התאמת קודי אזור בין הקורונה למפקד), לא באג.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Step 5: Modeling — 110 Models Across 5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5 tracks: 4 regression targets + 1 binary classification (severity_present)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4A4A4A"/>
                </a:solidFill>
              </a:rPr>
              <a:t>Per track: 19 univariate models + 3 combined-regression models, FDR-corrected</a:t>
            </a:r>
          </a:p>
        </p:txBody>
      </p:sp>
      <p:pic>
        <p:nvPicPr>
          <p:cNvPr id="7" name="Picture 6" descr="modelin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2" y="2743200"/>
            <a:ext cx="8212974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scripts/build_models.ipynb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תהליך המידול: 110 מודלים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תרשים-על: מטבלת wave2_model_table.csv, שני מסלולים מקבילים (שלב 1 - סריקה חד-משתנית, שלב 2 - רגרסיה משולבת), כל אחד עם תיבת תיקון/רגולריזציה משלו (FDR / Ridge-Logistic), עד לתוצאות ואיורים מימין. הכיתוב למעלה מסכם: 110 מודלים.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5 מסלולים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4 יעדי רגרסיה רציפים + severity_present - סיווג בינארי (יש/אין נטל אשפוז נמדד), כי severity_hosp_per_case הוא 0 ב-87% מהאזורים ולא ניתן למידול רציף בלבד.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שלב 1 - סריקה חד-משתנית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לכל מסלול, 19 מודלים - פיצ'ר אחד בכל פעם - עם 5-fold GroupKFold (מקובץ לפי עיר, כדי למנוע דליפת מידע גיאוגרפית בין תתי-אזורים של אותה עיר).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תיקון FDR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19 p-values לכל מסלול מתוקנים יחד (Benjamini-Hochberg) - כדי לא לדווח על קשרים שהם בעצם רעש סטטיסטי מריבוי בדיקות.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שלב 2 - רגרסיה משולבת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3 קבוצות פיצ'רים (נציגים/אינדקסים/שניהם) × 5 מסלולים = 15 מודלים, עם Ridge/רגרסיה לוגיסטית עם רגולריזציה - כי נמצא מתאם עצום (עד 0.99) בין נציג לאינדקס באותו תחום.</a:t>
            </a:r>
          </a:p>
          <a:p>
            <a:pPr algn="r">
              <a:spcAft>
                <a:spcPts val="700"/>
              </a:spcAft>
            </a:pPr>
            <a:r>
              <a:rPr sz="1500" b="1" lang="he-IL">
                <a:solidFill>
                  <a:srgbClr val="1F2A44"/>
                </a:solidFill>
              </a:rPr>
              <a:t>מסקנה</a:t>
            </a:r>
          </a:p>
          <a:p>
            <a:pPr lvl="1" algn="r">
              <a:spcAft>
                <a:spcPts val="400"/>
              </a:spcAft>
            </a:pPr>
            <a:r>
              <a:rPr sz="1200" b="0" lang="he-IL">
                <a:solidFill>
                  <a:srgbClr val="4A4A4A"/>
                </a:solidFill>
              </a:rPr>
              <a:t>– המבנה הכפול (חד-משתני + משולב, עם תיקון סטטיסטי בכל שלב) מבטיח שהתוצאות בשקופיות הבאות לא מבוססות על רעש - כל פיצ'ר שמדווח כ"חשוב" עבר גם בדיקת מובהקות וגם בדיקת הכללה (CV).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Results (1/2): R² Summary Across All Regression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4A4A4A"/>
                </a:solidFill>
              </a:rPr>
              <a:t>mean_IR shows strong, broad association with census features (CV R² up to 0.62)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4A4A4A"/>
                </a:solidFill>
              </a:rPr>
              <a:t>slope_to_peak_IR shows essentially none — not even the combined model beats the naive baseline</a:t>
            </a:r>
          </a:p>
        </p:txBody>
      </p:sp>
      <p:pic>
        <p:nvPicPr>
          <p:cNvPr id="7" name="Picture 6" descr="r2_results_heatm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59" y="2606040"/>
            <a:ext cx="5943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wave2_univariate_screen_results.csv, wave2_combined_regression_results.csv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תוצאות (1/2): מפת R² מסכמת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שני היטמפים - שמאל: R² חד-משתני (19 פיצ'רים × 4 יעדים, כוכבית = מובהק אחרי FDR). ימין: R² משולב (3 קבוצות פיצ'רים × 4 יעדים). צבע אדום = R² חיובי, כחול = שלילי (גרוע מניחוש ממוצע).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הממצא החזק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עמודת mean_IR כולה אדומה - 18 מתוך 19 פיצ'רים מובהקים, והמודל המשולב מסביר כ-62% מהשונות. הפיצ'ר החזק ביותר: household_family_idx (מבנה משק הבית).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הממצא השלילי (וגם הוא חשוב לדווח)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עמודת slope_to_peak_IR כמעט לגמרי לבנה/כחולה - אף פיצ'ר לא שרד את תיקון ה-FDR, וגם השילוב של כל 19 הפיצ'רים ביחד נותן R² שלילי (-0.06). זה ממצא לגיטימי: קצב ההתפשטות בגל הזה לא מוסבר על ידי מבנה סוציו-דמוגרפי.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peak_IR ו-severity_hosp_per_case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אות חלש-בינוני - כמה פיצ'רים מובהקים בבדיקה החד-משתנית, אך כמעט ללא תוספת מהשילוב המשותף.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מסקנה כללית מהאיור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לא כל היעדים שווים - מבנה סוציו-דמוגרפי מסביר היטב את רמת ההדבקה הממוצעת בגל השני, אך לא את קצב ההתפשטות שלו. זו תוצאה מדעית לגיטימית לדווח, לא כישלון של הניתוח.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Results (2/2): Reframing Severity as Classification — It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4A4A4A"/>
                </a:solidFill>
              </a:rPr>
              <a:t>severity_hosp_per_case as regression: R² ≈ 0.02–0.04 (fails)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4A4A4A"/>
                </a:solidFill>
              </a:rPr>
              <a:t>severity_present as classification: CV AUC ≈ 0.75–0.77 (works well)</a:t>
            </a:r>
          </a:p>
        </p:txBody>
      </p:sp>
      <p:pic>
        <p:nvPicPr>
          <p:cNvPr id="7" name="Picture 6" descr="combined_regression_classific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674620"/>
            <a:ext cx="41148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wave2_combined_regression_results.csv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תוצאות (2/2): הסיווג הבינארי הצליח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מה רואים באיור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גרף עמודות - 3 עמודות (קבוצות פיצ'רים: נציגים/אינדקסים/שניהם), גובה כל עמודה = AUC מ-5-fold CV למודל severity_present. קו מקווקו אופקי ב-0.5 מסמן ניחוש אקראי - כל שלוש העמודות גבוהות ממנו משמעותית.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התובנה המרכזית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87% מהאזורים רשמו בדיוק 0 באשפוזים בחלון - רגרסיה רציפה על severity_hosp_per_case נכשלת (R²≈0.02-0.04), כי היא מנסה "להתאים קו" למשתנה שהוא בעיקרו קבוע.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הפתרון: מסגור מחדש כשאלה בינארית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במקום "כמה חמור" - "האם בכלל היה נטל אשפוז נמדד" (0/1). זו לא רק פתרון טכני - זה מסגור אחר לגמרי של השאלה המדעית.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התוצאה בפועל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AUC≈0.75-0.77 בשלוש גרסאות הרגרסיה המשולבת (נציגים/אינדקסים/שניהם) - הרבה מעל 0.5 (ניחוש אקראי). פער ה-overfitting קטן (כ-0.04) - התוצאה אמינה, לא אשליה של המודל.</a:t>
            </a:r>
          </a:p>
          <a:p>
            <a:pPr algn="r">
              <a:spcAft>
                <a:spcPts val="700"/>
              </a:spcAft>
            </a:pPr>
            <a:r>
              <a:rPr sz="1600" b="1" lang="he-IL">
                <a:solidFill>
                  <a:srgbClr val="1F2A44"/>
                </a:solidFill>
              </a:rPr>
              <a:t>המשמעות למצגת</a:t>
            </a:r>
          </a:p>
          <a:p>
            <a:pPr lvl="1" algn="r">
              <a:spcAft>
                <a:spcPts val="400"/>
              </a:spcAft>
            </a:pPr>
            <a:r>
              <a:rPr sz="1300" b="0" lang="he-IL">
                <a:solidFill>
                  <a:srgbClr val="4A4A4A"/>
                </a:solidFill>
              </a:rPr>
              <a:t>– זה הממצא החיובי המשמעותי ביותר בכל המודלים - הוכחה שהחלטת המסגור-מחדש (שנבעה מניתוח שגיאות) הייתה נכונה בפועל, לא רק בתיאוריה.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