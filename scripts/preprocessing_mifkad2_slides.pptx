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</a:rPr>
              <a:t>Building the Census Join Key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64240" cy="381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4A4A4A"/>
                </a:solidFill>
              </a:rPr>
              <a:t>City_agas_code = locality code + statistical sub-area code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4A4A4A"/>
                </a:solidFill>
              </a:rPr>
              <a:t>Same key format already used on the COVID side → clean merge later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4A4A4A"/>
                </a:solidFill>
              </a:rPr>
              <a:t>Extended coverage: synthesized missing city-level rows, filled combined sub-area records</a:t>
            </a:r>
          </a:p>
        </p:txBody>
      </p:sp>
      <p:pic>
        <p:nvPicPr>
          <p:cNvPr id="5" name="Picture 4" descr="diagram_join_key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63240"/>
            <a:ext cx="11064240" cy="33192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>
                <a:solidFill>
                  <a:srgbClr val="909090"/>
                </a:solidFill>
              </a:rPr>
              <a:t>scripts/preprocessing_mifkak2_naama.ipynb  •  cells 1–13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 lang="he-IL">
                <a:solidFill>
                  <a:srgbClr val="2E6F95"/>
                </a:solidFill>
              </a:rPr>
              <a:t>מה להגיד על השקופית הקודמת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lang="he-IL">
                <a:solidFill>
                  <a:srgbClr val="1F2A44"/>
                </a:solidFill>
              </a:rPr>
              <a:t>בניית מפתח הצירוף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381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1" lang="he-IL">
                <a:solidFill>
                  <a:srgbClr val="1F2A44"/>
                </a:solidFill>
              </a:rPr>
              <a:t>מה זה בכלל</a:t>
            </a:r>
          </a:p>
          <a:p>
            <a:pPr lvl="1" algn="r">
              <a:spcAft>
                <a:spcPts val="400"/>
              </a:spcAft>
            </a:pPr>
            <a:r>
              <a:rPr sz="1350" b="0" lang="he-IL">
                <a:solidFill>
                  <a:srgbClr val="4A4A4A"/>
                </a:solidFill>
              </a:rPr>
              <a:t>– השקופית מסבירה איך בנינו את City_agas_code — המפתח שמחבר בין נתוני המפקד לנתוני הקורונה היומיים.</a:t>
            </a:r>
          </a:p>
          <a:p>
            <a:pPr algn="r">
              <a:spcAft>
                <a:spcPts val="800"/>
              </a:spcAft>
            </a:pPr>
            <a:r>
              <a:rPr sz="1800" b="1" lang="he-IL">
                <a:solidFill>
                  <a:srgbClr val="1F2A44"/>
                </a:solidFill>
              </a:rPr>
              <a:t>ניקוי מפתחות</a:t>
            </a:r>
          </a:p>
          <a:p>
            <a:pPr lvl="1" algn="r">
              <a:spcAft>
                <a:spcPts val="400"/>
              </a:spcAft>
            </a:pPr>
            <a:r>
              <a:rPr sz="1350" b="0" lang="he-IL">
                <a:solidFill>
                  <a:srgbClr val="4A4A4A"/>
                </a:solidFill>
              </a:rPr>
              <a:t>– לפני הבנייה עצמה ניקינו את סמל היישוב וסמל האזור הסטטיסטי, כדי שיהיו בפורמט אחיד ולא ייפלו על הבדלי טיפוס נתונים.</a:t>
            </a:r>
          </a:p>
          <a:p>
            <a:pPr algn="r">
              <a:spcAft>
                <a:spcPts val="800"/>
              </a:spcAft>
            </a:pPr>
            <a:r>
              <a:rPr sz="1800" b="1" lang="he-IL">
                <a:solidFill>
                  <a:srgbClr val="1F2A44"/>
                </a:solidFill>
              </a:rPr>
              <a:t>בניית המפתח</a:t>
            </a:r>
          </a:p>
          <a:p>
            <a:pPr lvl="1" algn="r">
              <a:spcAft>
                <a:spcPts val="400"/>
              </a:spcAft>
            </a:pPr>
            <a:r>
              <a:rPr sz="1350" b="0" lang="he-IL">
                <a:solidFill>
                  <a:srgbClr val="4A4A4A"/>
                </a:solidFill>
              </a:rPr>
              <a:t>– המפתח הוא צירוף של סמל היישוב + סמל האזור. ליישובים שלא מחולקים לתתי-אזורים (או שחסר להם קוד אזור) נתנו סיומת "0" — בדיוק כמו המוסכמה שכבר קיימת בצד הקורונה, כדי שהמיזוג בהמשך יעבוד ישר.</a:t>
            </a:r>
          </a:p>
          <a:p>
            <a:pPr algn="r">
              <a:spcAft>
                <a:spcPts val="800"/>
              </a:spcAft>
            </a:pPr>
            <a:r>
              <a:rPr sz="1800" b="1" lang="he-IL">
                <a:solidFill>
                  <a:srgbClr val="1F2A44"/>
                </a:solidFill>
              </a:rPr>
              <a:t>הרחבת כיסוי</a:t>
            </a:r>
          </a:p>
          <a:p>
            <a:pPr lvl="1" algn="r">
              <a:spcAft>
                <a:spcPts val="400"/>
              </a:spcAft>
            </a:pPr>
            <a:r>
              <a:rPr sz="1350" b="0" lang="he-IL">
                <a:solidFill>
                  <a:srgbClr val="4A4A4A"/>
                </a:solidFill>
              </a:rPr>
              <a:t>– גילינו שלחלק מהיישובים לא הייתה שורת-"עיר שלמה" מסכמת — יצרנו אותה באופן מלאכותי וסימנו בדגל is_city_aggregate כדי שיהיה ברור שהיא לא מקורית.</a:t>
            </a:r>
          </a:p>
          <a:p>
            <a:pPr lvl="1" algn="r">
              <a:spcAft>
                <a:spcPts val="400"/>
              </a:spcAft>
            </a:pPr>
            <a:r>
              <a:rPr sz="1350" b="0" lang="he-IL">
                <a:solidFill>
                  <a:srgbClr val="4A4A4A"/>
                </a:solidFill>
              </a:rPr>
              <a:t>– באופן דומה השלמנו רשומות שהיו מאוחדות בין כמה אזורים (Stat2022_Unite) לכל אזור שהן מכסות — רק כשלא היה כבר ערך אמיתי, כדי לא לדרוס נתונים אמיתיים.</a:t>
            </a:r>
          </a:p>
          <a:p>
            <a:pPr algn="r">
              <a:spcAft>
                <a:spcPts val="800"/>
              </a:spcAft>
            </a:pPr>
            <a:r>
              <a:rPr sz="1800" b="1" lang="he-IL">
                <a:solidFill>
                  <a:srgbClr val="1F2A44"/>
                </a:solidFill>
              </a:rPr>
              <a:t>בדיקות תקינות ושמירה</a:t>
            </a:r>
          </a:p>
          <a:p>
            <a:pPr lvl="1" algn="r">
              <a:spcAft>
                <a:spcPts val="400"/>
              </a:spcAft>
            </a:pPr>
            <a:r>
              <a:rPr sz="1350" b="0" lang="he-IL">
                <a:solidFill>
                  <a:srgbClr val="4A4A4A"/>
                </a:solidFill>
              </a:rPr>
              <a:t>– בסוף הרצנו שוב את אותן בדיקות תקינות (ייחודיות, אין חוסרים) כדי לוודא שההרחבות לא שברו את המפתח, ושמרנו את Mifkad_2_processed.csv המוכן למיזוג.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</a:rPr>
              <a:t>Feature Reduction: 70 → 27 Columns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64240" cy="381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4A4A4A"/>
                </a:solidFill>
              </a:rPr>
              <a:t>7 correlated domains → keep 1 representative + 1 PCA composite index each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4A4A4A"/>
                </a:solidFill>
              </a:rPr>
              <a:t>13 standalone columns kept unchanged</a:t>
            </a:r>
          </a:p>
        </p:txBody>
      </p:sp>
      <p:pic>
        <p:nvPicPr>
          <p:cNvPr id="5" name="Picture 4" descr="diagram_feature_red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331720"/>
            <a:ext cx="6720840" cy="3696462"/>
          </a:xfrm>
          <a:prstGeom prst="rect">
            <a:avLst/>
          </a:prstGeom>
        </p:spPr>
      </p:pic>
      <p:pic>
        <p:nvPicPr>
          <p:cNvPr id="6" name="Picture 5" descr="age_structure_representative_cor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14600"/>
            <a:ext cx="4023360" cy="24140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34924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4A4A4A"/>
                </a:solidFill>
              </a:rPr>
              <a:t>Real evidence: age_structure representative vs. its group (|r| = 0.7 threshold)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>
                <a:solidFill>
                  <a:srgbClr val="909090"/>
                </a:solidFill>
              </a:rPr>
              <a:t>scripts/preprocessing_mifkak2_naama.ipynb  •  cells 17–28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 lang="he-IL">
                <a:solidFill>
                  <a:srgbClr val="2E6F95"/>
                </a:solidFill>
              </a:rPr>
              <a:t>מה להגיד על השקופית הקודמת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lang="he-IL">
                <a:solidFill>
                  <a:srgbClr val="1F2A44"/>
                </a:solidFill>
              </a:rPr>
              <a:t>צמצום פיצ'רים: 70 → 27 עמודות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381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1" lang="he-IL">
                <a:solidFill>
                  <a:srgbClr val="1F2A44"/>
                </a:solidFill>
              </a:rPr>
              <a:t>הבעיה</a:t>
            </a:r>
          </a:p>
          <a:p>
            <a:pPr lvl="1" algn="r">
              <a:spcAft>
                <a:spcPts val="400"/>
              </a:spcAft>
            </a:pPr>
            <a:r>
              <a:rPr sz="1350" b="0" lang="he-IL">
                <a:solidFill>
                  <a:srgbClr val="4A4A4A"/>
                </a:solidFill>
              </a:rPr>
              <a:t>– אחרי בניית המפתח נשאר קובץ עם 70 עמודות גולמיות מהמפקד — הרבה מהן חוזרות בעצם על אותו מידע (למשל כל עמודות הגיל נעות ביחד).</a:t>
            </a:r>
          </a:p>
          <a:p>
            <a:pPr lvl="1" algn="r">
              <a:spcAft>
                <a:spcPts val="400"/>
              </a:spcAft>
            </a:pPr>
            <a:r>
              <a:rPr sz="1350" b="0" lang="he-IL">
                <a:solidFill>
                  <a:srgbClr val="4A4A4A"/>
                </a:solidFill>
              </a:rPr>
              <a:t>– להזין את כל 70 למודל יוצר ריבוי-קוליניאריות ומקשה לפרש feature importance בהמשך.</a:t>
            </a:r>
          </a:p>
          <a:p>
            <a:pPr algn="r">
              <a:spcAft>
                <a:spcPts val="800"/>
              </a:spcAft>
            </a:pPr>
            <a:r>
              <a:rPr sz="1800" b="1" lang="he-IL">
                <a:solidFill>
                  <a:srgbClr val="1F2A44"/>
                </a:solidFill>
              </a:rPr>
              <a:t>השיטה</a:t>
            </a:r>
          </a:p>
          <a:p>
            <a:pPr lvl="1" algn="r">
              <a:spcAft>
                <a:spcPts val="400"/>
              </a:spcAft>
            </a:pPr>
            <a:r>
              <a:rPr sz="1350" b="0" lang="he-IL">
                <a:solidFill>
                  <a:srgbClr val="4A4A4A"/>
                </a:solidFill>
              </a:rPr>
              <a:t>– חילקנו את העמודות ל-7 תחומים תמטיים: גיל, מוצא, מבנה משפחה, תעסוקה, הכנסה, דיור ורכוש, ונכות.</a:t>
            </a:r>
          </a:p>
          <a:p>
            <a:pPr lvl="1" algn="r">
              <a:spcAft>
                <a:spcPts val="400"/>
              </a:spcAft>
            </a:pPr>
            <a:r>
              <a:rPr sz="1350" b="0" lang="he-IL">
                <a:solidFill>
                  <a:srgbClr val="4A4A4A"/>
                </a:solidFill>
              </a:rPr>
              <a:t>– לכל תחום שומרים רק שתי עמודות: "נציג" גולמי אחד — הכי אינטואיטיבי לפרשנות (למשל age65_pcnt לתחום הגיל) — ומדד משולב אחד מבוסס PCA (הרכיב הראשי) שתופס יותר מהמידע המשולב של כל התחום.</a:t>
            </a:r>
          </a:p>
          <a:p>
            <a:pPr algn="r">
              <a:spcAft>
                <a:spcPts val="800"/>
              </a:spcAft>
            </a:pPr>
            <a:r>
              <a:rPr sz="1800" b="1" lang="he-IL">
                <a:solidFill>
                  <a:srgbClr val="1F2A44"/>
                </a:solidFill>
              </a:rPr>
              <a:t>על הגרף</a:t>
            </a:r>
          </a:p>
          <a:p>
            <a:pPr lvl="1" algn="r">
              <a:spcAft>
                <a:spcPts val="400"/>
              </a:spcAft>
            </a:pPr>
            <a:r>
              <a:rPr sz="1350" b="0" lang="he-IL">
                <a:solidFill>
                  <a:srgbClr val="4A4A4A"/>
                </a:solidFill>
              </a:rPr>
              <a:t>– הגרף בשקופית הוא בדיקת תקינות אמיתית מהפרויקט: לכל תחום, כמה כל עמודה בו מתואמת עם הנציג שנבחר. קווי הסף המקווקווים ב-0.7± מראים אם הנציג באמת מייצג טוב את שאר העמודות בקבוצה.</a:t>
            </a:r>
          </a:p>
          <a:p>
            <a:pPr algn="r">
              <a:spcAft>
                <a:spcPts val="800"/>
              </a:spcAft>
            </a:pPr>
            <a:r>
              <a:rPr sz="1800" b="1" lang="he-IL">
                <a:solidFill>
                  <a:srgbClr val="1F2A44"/>
                </a:solidFill>
              </a:rPr>
              <a:t>13 העמודות העצמאיות</a:t>
            </a:r>
          </a:p>
          <a:p>
            <a:pPr lvl="1" algn="r">
              <a:spcAft>
                <a:spcPts val="400"/>
              </a:spcAft>
            </a:pPr>
            <a:r>
              <a:rPr sz="1350" b="0" lang="he-IL">
                <a:solidFill>
                  <a:srgbClr val="4A4A4A"/>
                </a:solidFill>
              </a:rPr>
              <a:t>– היו גם 13 עמודות שלא השתייכו לאף בלוק מתואם — למשל צפיפות אוכלוסין, יחס מגדרי, דת — ואותן השארנו כמו שהן, בלי שינוי.</a:t>
            </a:r>
          </a:p>
          <a:p>
            <a:pPr algn="r">
              <a:spcAft>
                <a:spcPts val="800"/>
              </a:spcAft>
            </a:pPr>
            <a:r>
              <a:rPr sz="1800" b="1" lang="he-IL">
                <a:solidFill>
                  <a:srgbClr val="1F2A44"/>
                </a:solidFill>
              </a:rPr>
              <a:t>סיכום מספרי</a:t>
            </a:r>
          </a:p>
          <a:p>
            <a:pPr lvl="1" algn="r">
              <a:spcAft>
                <a:spcPts val="400"/>
              </a:spcAft>
            </a:pPr>
            <a:r>
              <a:rPr sz="1350" b="0" lang="he-IL">
                <a:solidFill>
                  <a:srgbClr val="4A4A4A"/>
                </a:solidFill>
              </a:rPr>
              <a:t>– 13 עצמאיות + 7 תחומים × 2 = 27 עמודות בקובץ הסופי Mifkad_2_reduced.csv — זה הקובץ שבאמת נכנס למודל בהמשך.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